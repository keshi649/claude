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C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F2A3C"/>
                </a:solidFill>
                <a:latin typeface="Microsoft YaHei"/>
              </a:rPr>
              <a:t>1 元本金的 30 年轨迹（倍）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10% 复利增长</c:v>
                </c:pt>
              </c:strCache>
            </c:strRef>
          </c:tx>
          <c:spPr>
            <a:solidFill>
              <a:srgbClr val="C9A227"/>
            </a:solidFill>
            <a:ln w="381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0年</c:v>
                  </c:pt>
                  <c:pt idx="1">
                    <c:v>5年</c:v>
                  </c:pt>
                  <c:pt idx="2">
                    <c:v>10年</c:v>
                  </c:pt>
                  <c:pt idx="3">
                    <c:v>15年</c:v>
                  </c:pt>
                  <c:pt idx="4">
                    <c:v>20年</c:v>
                  </c:pt>
                  <c:pt idx="5">
                    <c:v>25年</c:v>
                  </c:pt>
                  <c:pt idx="6">
                    <c:v>30年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1.61</c:v>
                </c:pt>
                <c:pt idx="2">
                  <c:v>2.59</c:v>
                </c:pt>
                <c:pt idx="3">
                  <c:v>4.18</c:v>
                </c:pt>
                <c:pt idx="4">
                  <c:v>6.73</c:v>
                </c:pt>
                <c:pt idx="5">
                  <c:v>10.83</c:v>
                </c:pt>
                <c:pt idx="6">
                  <c:v>17.45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10% 单利增长</c:v>
                </c:pt>
              </c:strCache>
            </c:strRef>
          </c:tx>
          <c:spPr>
            <a:solidFill>
              <a:srgbClr val="8A97AC"/>
            </a:solidFill>
            <a:ln w="38100" cap="flat">
              <a:solidFill>
                <a:srgbClr val="8A97A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97AC"/>
              </a:solidFill>
              <a:ln w="9525" cap="flat">
                <a:solidFill>
                  <a:srgbClr val="8A97A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0年</c:v>
                  </c:pt>
                  <c:pt idx="1">
                    <c:v>5年</c:v>
                  </c:pt>
                  <c:pt idx="2">
                    <c:v>10年</c:v>
                  </c:pt>
                  <c:pt idx="3">
                    <c:v>15年</c:v>
                  </c:pt>
                  <c:pt idx="4">
                    <c:v>20年</c:v>
                  </c:pt>
                  <c:pt idx="5">
                    <c:v>25年</c:v>
                  </c:pt>
                  <c:pt idx="6">
                    <c:v>30年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2.5</c:v>
                </c:pt>
                <c:pt idx="4">
                  <c:v>3</c:v>
                </c:pt>
                <c:pt idx="5">
                  <c:v>3.5</c:v>
                </c:pt>
                <c:pt idx="6">
                  <c:v>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37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8C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37A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5637A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开场：本书的定位不是投资技法，而是一套通用的思考操作系统。全书三大支柱——多元思维模型、逆向思维、误判心理学。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全书可以压缩成两条指令：装工具、排 bug。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芒格对巴菲特最大的贡献：一句「用合理的价格买伟大公司，远胜过用便宜的价格买平庸公司」。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四者不是并列，而是层层递进：模型提供视角，逆向缩小问题，能力圈划定边界，清单保证执行。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铁锤人不是笨，恰恰是因为太熟练——熟练本身成了偏见的来源。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芒格从未给出完整的 100 个模型清单；他的要求是自己去各学科的基础课里挖。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逆向思维不是消极，而是把无限的搜索空间压缩成有限的排除清单。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这场演讲是逆向思维最完整的公开演示：不讲怎么成功，只讲怎么保证失败。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能力圈可以扩张，但扩张速度远比想象中慢，而自我高估的速度远比想象中快。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知道偏差存在并不能自动免疫，必须配合清单化流程与制度设计。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不要背，要用。打印出来，重大决策前逐条自问。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对自己排查，也要对交易对手排查：对方正在用哪几条操纵我？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Lollapalooza 既是陷阱，也是构建伟大企业的配方。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喜诗糖果是转折点：第一次为无形资产（品牌定价权）付溢价。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这一转变直接催生了喜诗糖果与可口可乐，也重塑了现代价值投资。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复利的第一条规则：非必要，永远不要打断它。这既是投资原则，也是人生原则。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这十条是全书唯一可以照抄的操作模板。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芒格并非孤峰：他与行为经济学、风险哲学、东方智慧高度共振，只是更早、更实用。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批判性阅读本身就是芒格式的做法——他要求能比对手更有力地反驳自己的立场。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决策日志是对抗后见之明偏差最有效的工具。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这是芒格给年轻人的忠告，几十年从未改变。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960120"/>
            <a:ext cx="3931920" cy="3931920"/>
          </a:xfrm>
          <a:prstGeom prst="ellipse">
            <a:avLst/>
          </a:prstGeom>
          <a:ln w="1270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1508760"/>
            <a:ext cx="2834640" cy="2834640"/>
          </a:xfrm>
          <a:prstGeom prst="ellipse">
            <a:avLst/>
          </a:prstGeom>
          <a:ln w="12700">
            <a:solidFill>
              <a:srgbClr val="4A5B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06840" y="2148840"/>
            <a:ext cx="1554480" cy="15544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77800" dist="50800" dir="5400000">
              <a:srgbClr val="0B152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006840" y="21488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查理</a:t>
            </a:r>
            <a:endParaRPr lang="en-US" sz="17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芒格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读书笔记 · 精华总结与拓展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847088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穷查理宝典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66928" y="290779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A97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Charlie's Almanack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3611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E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这不是一本投资书，而是一本「如何正确思考」的书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" y="44348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6928" y="5029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跨学科思维模型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52928" y="44348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852928" y="5029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种人类误判倾向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38928" y="44348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138928" y="5029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场经典演讲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彼得·考夫曼 编 ｜ 查理·芒格 著 ｜ 巴菲特 作序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一句话读懂这本书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645920"/>
            <a:ext cx="11055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dirty="0">
                <a:solidFill>
                  <a:srgbClr val="C3CE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绝大多数人的失败，不是因为不够聪明，而是因为</a:t>
            </a:r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工具箱里只有一把锤子</a:t>
            </a:r>
            <a:pPr indent="0" marL="0">
              <a:lnSpc>
                <a:spcPts val="3400"/>
              </a:lnSpc>
              <a:buNone/>
            </a:pPr>
            <a:r>
              <a:rPr lang="en-US" sz="2200" dirty="0">
                <a:solidFill>
                  <a:srgbClr val="C3CE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，加上</a:t>
            </a:r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大脑自带 25 个 bug</a:t>
            </a:r>
            <a:pPr indent="0" marL="0">
              <a:lnSpc>
                <a:spcPts val="3400"/>
              </a:lnSpc>
              <a:buNone/>
            </a:pPr>
            <a:r>
              <a:rPr lang="en-US" sz="2200" dirty="0">
                <a:solidFill>
                  <a:srgbClr val="C3CE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3035808"/>
            <a:ext cx="5413248" cy="2286000"/>
          </a:xfrm>
          <a:prstGeom prst="roundRect">
            <a:avLst>
              <a:gd name="adj" fmla="val 2400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3355848"/>
            <a:ext cx="566928" cy="566928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50976" y="3355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64208" y="3401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装满工具箱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50976" y="4105656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掌握来自数学、物理、生物、心理、经济等学科的重要模型，并把它们编织成一张网。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50976" y="49103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多元思维模型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08776" y="3035808"/>
            <a:ext cx="5413248" cy="2286000"/>
          </a:xfrm>
          <a:prstGeom prst="roundRect">
            <a:avLst>
              <a:gd name="adj" fmla="val 2400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92824" y="3355848"/>
            <a:ext cx="566928" cy="566928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92824" y="3355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06056" y="3401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排查大脑 bug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92824" y="4105656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把人类误判的心理倾向列成清单，每一次重要决策前逐条走查，用流程对抗本能。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92824" y="49103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误判心理学 + 检查清单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其余的一切 —— 投资、事业、家庭、声誉 —— 都是这两条的副产品。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芒格其人：一本长着两条腿的书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4114800" cy="4160520"/>
          </a:xfrm>
          <a:prstGeom prst="roundRect">
            <a:avLst>
              <a:gd name="adj" fmla="val 1333"/>
            </a:avLst>
          </a:prstGeom>
          <a:solidFill>
            <a:srgbClr val="12203A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4248" y="1965960"/>
            <a:ext cx="1280160" cy="1280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984248" y="19659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1924</a:t>
            </a:r>
            <a:endParaRPr lang="en-US" sz="15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3429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查理·芒格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41248" y="3858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伯克希尔·哈撒韦 副主席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431596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律师出身 ｜ 韦斯科金融董事长</a:t>
            </a:r>
            <a:endParaRPr lang="en-US" sz="12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中年丧子、离婚、一眼失明</a:t>
            </a:r>
            <a:endParaRPr lang="en-US" sz="12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仍终身保持理性与乐观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0" y="1627632"/>
            <a:ext cx="659282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85232" y="1847088"/>
            <a:ext cx="475488" cy="475488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85232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25312" y="17647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每天阅读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925312" y="20848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「我这辈子遇到的聪明人，没有不每天阅读的——一个都没有。」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2688336"/>
            <a:ext cx="659282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85232" y="2907792"/>
            <a:ext cx="475488" cy="475488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85232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25312" y="28254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重塑巴菲特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925312" y="31455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把巴菲特从「捡烟蒂」推向「以合理价格买伟大公司」。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3749040"/>
            <a:ext cx="659282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85232" y="3968496"/>
            <a:ext cx="475488" cy="475488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85232" y="3968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25312" y="38862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喜诗糖果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925312" y="42062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第一次为品牌定价权付溢价，验证了护城河的价值。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4809744"/>
            <a:ext cx="659282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85232" y="5029200"/>
            <a:ext cx="475488" cy="475488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85232" y="5029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925312" y="49469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能力圈纪律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5925312" y="52669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桌上永远有第三个篮子：「太难」——大部分机会都扔进去。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四大核心思想：全书的骨架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41324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2020824"/>
            <a:ext cx="566928" cy="566928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0976" y="2020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82496" y="20756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多元思维模型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0976" y="271576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把各学科的大道理编成一张格栅，拒绝「铁锤人」式的单一视角。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0976" y="3429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格栅理论 · Latticework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08776" y="1691640"/>
            <a:ext cx="541324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92824" y="2020824"/>
            <a:ext cx="566928" cy="566928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92824" y="2020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24344" y="20756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逆向思维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92824" y="271576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求「如何成功」很难，求「如何必败」很容易——避开必败即接近成功。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2824" y="3429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Invert, always invert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977640"/>
            <a:ext cx="541324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0976" y="4306824"/>
            <a:ext cx="566928" cy="566928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0976" y="4306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82496" y="43616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能力圈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50976" y="500176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圈子大小不重要，边界清晰最重要；不懂就扔进「太难」篮子。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" y="5715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Circle of Competence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08776" y="3977640"/>
            <a:ext cx="541324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92824" y="4306824"/>
            <a:ext cx="566928" cy="566928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92824" y="4306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324344" y="43616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检查清单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592824" y="500176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聪明人犯错，往往不是不知道，而是当时没想起来。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92824" y="5715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 一 · 问题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铁锤人倾向：单一模型的陷阱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「在手里拿着铁锤的人看来，世界就像一颗钉子。」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单一学科训练出来的专家，会把所有问题都塞进自己那套模型里——结果是系统性地扭曲现实。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3063240"/>
            <a:ext cx="3529584" cy="1691640"/>
          </a:xfrm>
          <a:prstGeom prst="roundRect">
            <a:avLst>
              <a:gd name="adj" fmla="val 3243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32918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经济学家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86968" y="3675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用供需解释一切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40690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忽略心理与制度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3063240"/>
            <a:ext cx="3529584" cy="1691640"/>
          </a:xfrm>
          <a:prstGeom prst="roundRect">
            <a:avLst>
              <a:gd name="adj" fmla="val 3243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45152" y="32918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心理学家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45152" y="3675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用动机解释一切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45152" y="40690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忽略激励与成本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3296" y="3063240"/>
            <a:ext cx="3529584" cy="1691640"/>
          </a:xfrm>
          <a:prstGeom prst="roundRect">
            <a:avLst>
              <a:gd name="adj" fmla="val 3243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03336" y="32918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03336" y="3675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用结构解释一切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03336" y="40690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忽略人性与博弈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5074920"/>
            <a:ext cx="11055096" cy="1005840"/>
          </a:xfrm>
          <a:prstGeom prst="roundRect">
            <a:avLst>
              <a:gd name="adj" fmla="val 5455"/>
            </a:avLst>
          </a:prstGeom>
          <a:solidFill>
            <a:srgbClr val="27406A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2688" y="50749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　</a:t>
            </a:r>
            <a:pPr indent="0" marL="0">
              <a:buNone/>
            </a:pPr>
            <a:r>
              <a:rPr lang="en-US" sz="1450" dirty="0">
                <a:solidFill>
                  <a:srgbClr val="D5D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现实世界不按大学的院系划分问题。单一模型的解释力天花板很低，只有多模型叠加才有穿透力。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 一 · 解法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格栅理论：把知识挂到一张网上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66420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「你必须把经验挂在头脑中的一个由许多思维模型组成的框架上。」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3529584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487168"/>
            <a:ext cx="512064" cy="512064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9616" y="25054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数学统计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" y="301752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复利 · 概率 · 期望值 · 贝叶斯 · 大数定律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2212848"/>
            <a:ext cx="3529584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487168"/>
            <a:ext cx="512064" cy="512064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25054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物理工程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01752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临界质量 · 反馈回路 · 冗余备份 · 安全边际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83296" y="2212848"/>
            <a:ext cx="3529584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5904" y="2487168"/>
            <a:ext cx="512064" cy="512064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75904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15984" y="25054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生物生态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75904" y="301752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进化选择 · 生态位 · 系统依赖 · 路径依赖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785616"/>
            <a:ext cx="3529584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9536" y="4059936"/>
            <a:ext cx="512064" cy="512064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59536" y="4059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9616" y="40782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心理学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9536" y="4590288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种误判倾向 · 条件反射 · 认知失调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25112" y="3785616"/>
            <a:ext cx="3529584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4059936"/>
            <a:ext cx="512064" cy="512064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17720" y="4059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40782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经济商业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17720" y="4590288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机会成本 · 规模优势 · 护城河 · 委托代理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83296" y="3785616"/>
            <a:ext cx="3529584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75904" y="4059936"/>
            <a:ext cx="512064" cy="512064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375904" y="4059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15984" y="40782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会计信息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75904" y="4590288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现金流 · 折旧陷阱 · 再投资需求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66928" y="550468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要点：每个学科只取最基础、最强大的那几条大道理，不必成为专家——关键在于让多个模型同时上场，互相印证、互相证伪。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 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反过来想，总是反过来想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Invert, always invert.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3774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源自数学家雅可比（Jacobi）。它的本质是一种降低问题难度的技术：把一个开放的、难以求解的问题，转换成一个封闭的、可枚举的问题。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「如果我知道我会死在哪里，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我将永远不去那个地方。」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47091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先做减法，再做加法。避免愚蠢的收益，远高于追求卓越的收益。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5257800"/>
            <a:ext cx="6035040" cy="1143000"/>
          </a:xfrm>
          <a:prstGeom prst="roundRect">
            <a:avLst>
              <a:gd name="adj" fmla="val 4800"/>
            </a:avLst>
          </a:prstGeom>
          <a:solidFill>
            <a:srgbClr val="27406A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6968" y="54406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" y="57607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5D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它把无限的搜索空间，压缩成一份有限的排除清单。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03720" y="169164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逆向改写模板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03720" y="2139696"/>
            <a:ext cx="4718304" cy="896112"/>
          </a:xfrm>
          <a:prstGeom prst="roundRect">
            <a:avLst>
              <a:gd name="adj" fmla="val 6122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78040" y="22311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怎样让公司成功？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78040" y="257860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什么会必然搞垮这家公司？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903720" y="3172968"/>
            <a:ext cx="4718304" cy="896112"/>
          </a:xfrm>
          <a:prstGeom prst="roundRect">
            <a:avLst>
              <a:gd name="adj" fmla="val 6122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78040" y="32644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怎样投出好项目？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78040" y="36118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什么项目我必须一票否决？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903720" y="4206240"/>
            <a:ext cx="4718304" cy="896112"/>
          </a:xfrm>
          <a:prstGeom prst="roundRect">
            <a:avLst>
              <a:gd name="adj" fmla="val 6122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78040" y="4297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怎样教育好孩子？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78040" y="46451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什么行为会毁掉亲子关系？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03720" y="5239512"/>
            <a:ext cx="4718304" cy="896112"/>
          </a:xfrm>
          <a:prstGeom prst="roundRect">
            <a:avLst>
              <a:gd name="adj" fmla="val 6122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78040" y="53309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怎样保持健康？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78040" y="56784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什么习惯会确定性地折寿？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逆向思维 · 经典演示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《如何度过悲惨的一生》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1986 年哈佛高中毕业演讲——芒格给出的「保证痛苦」五条处方，反过来读就是人生守则。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03704"/>
            <a:ext cx="457200" cy="4572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35608" y="210312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反复无常，不守信用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96128" y="210312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摧毁一切合作关系的基础，声誉复利归零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889504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990088"/>
            <a:ext cx="457200" cy="4572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35608" y="288950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只从自己的经验中学习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96128" y="2889504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用最贵的学费，学到最少的东西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3675888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776472"/>
            <a:ext cx="457200" cy="4572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35608" y="367588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遭遇挫折就此沉沦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96128" y="3675888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拒绝复原，把一次失败变成永久失败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4462272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562856"/>
            <a:ext cx="457200" cy="4572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35608" y="446227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沉迷酒精与化学物质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96128" y="4462272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系统性、不可逆地摧毁判断力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5248656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5349240"/>
            <a:ext cx="457200" cy="4572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35608" y="524865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放任嫉妒、怨恨与自怜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96128" y="5248656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回报率最低的三种情绪，只有痛苦没有收益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608076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「嫉妒是一种毫无乐趣可言的罪行，它带来的只有痛苦，没有任何快乐。为什么要去招惹它？」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 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能力圈：边界比大小更重要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719072"/>
            <a:ext cx="11055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「知道自己不知道什么，比聪明更重要。」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3529584" cy="2286000"/>
          </a:xfrm>
          <a:prstGeom prst="roundRect">
            <a:avLst>
              <a:gd name="adj" fmla="val 2400"/>
            </a:avLst>
          </a:prstGeom>
          <a:solidFill>
            <a:srgbClr val="C9A227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31012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A32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在能力圈之内，我能说清这门生意如何赚钱、护城河在哪、什么会杀死它。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2377440"/>
            <a:ext cx="3529584" cy="2286000"/>
          </a:xfrm>
          <a:prstGeom prst="roundRect">
            <a:avLst>
              <a:gd name="adj" fmla="val 2400"/>
            </a:avLst>
          </a:prstGeom>
          <a:solidFill>
            <a:srgbClr val="27406A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72584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不能投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72584" y="331012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看得懂，但不满足纪律：估值太贵、管理层可疑、行业在被摧毁。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83296" y="2377440"/>
            <a:ext cx="3529584" cy="2286000"/>
          </a:xfrm>
          <a:prstGeom prst="roundRect">
            <a:avLst>
              <a:gd name="adj" fmla="val 2400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30768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太难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430768" y="331012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 hard pile。看不懂就直接放弃——这不是懦弱，是纪律。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83296" y="475488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大部分机会应当落在第三个篮子里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5257800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27406A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" y="52578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「若要问自己是否处在能力圈之内，那这个问题本身就意味着你在圈子之外。」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 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检查清单：把智力问题变成工程问题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芒格从航空业借来的模型：飞行员再有经验，起飞前也必须逐条读检查单。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529584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23317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记忆会失效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59536" y="26974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人的记忆与注意力在压力下会系统性失效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2148840"/>
            <a:ext cx="3529584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3317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不是不知道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17720" y="26974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聪明人犯的错，往往是当时没想起来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83296" y="2148840"/>
            <a:ext cx="3529584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75904" y="23317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流程胜过临场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375904" y="26974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把「临场发挥」变成「流程保障」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657600"/>
            <a:ext cx="5413248" cy="2103120"/>
          </a:xfrm>
          <a:prstGeom prst="roundRect">
            <a:avLst>
              <a:gd name="adj" fmla="val 2609"/>
            </a:avLst>
          </a:prstGeom>
          <a:solidFill>
            <a:srgbClr val="12203A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0976" y="39136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清单 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0976" y="4261104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种误判心理倾向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50976" y="48006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决策前排查：我现在正被哪几种心理倾向劫持？对手又在用哪几条操纵我？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08776" y="3657600"/>
            <a:ext cx="5413248" cy="2103120"/>
          </a:xfrm>
          <a:prstGeom prst="roundRect">
            <a:avLst>
              <a:gd name="adj" fmla="val 2609"/>
            </a:avLst>
          </a:prstGeom>
          <a:solidFill>
            <a:srgbClr val="12203A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92824" y="39136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清单 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92824" y="4261104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投资原则十条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592824" y="48006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出手前排查：风险、独立、准备、谦虚、分析、配置、耐心、决心、改变、专注。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598932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「聪明人也会犯愚蠢的错误，除非他们养成使用检查清单的习惯。」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全书理论重心 · 第十一讲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人类误判心理学：25 种倾向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19072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B1526">
                <a:alpha val="2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78308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4944" y="2048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奖励与惩罚超级反应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07208" y="1719072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152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35224" y="178308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35224" y="2048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喜欢／热爱倾向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47488" y="1719072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152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75504" y="178308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75504" y="2048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讨厌／憎恨倾向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87768" y="1719072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152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15784" y="178308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15784" y="2048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避免怀疑倾向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28048" y="1719072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B1526">
                <a:alpha val="2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56064" y="178308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56064" y="2048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避免不一致性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2596896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1526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944" y="26609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" y="2926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好奇心倾向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07208" y="2596896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1526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935224" y="26609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35224" y="2926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康德式公平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47488" y="2596896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B1526">
                <a:alpha val="2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75504" y="26609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75504" y="2926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艳羡／嫉妒倾向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87768" y="2596896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1526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15784" y="26609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15784" y="2926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回馈倾向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28048" y="2596896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1526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656064" y="26609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56064" y="2926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受简单联想影响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347472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1526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4944" y="35387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4944" y="38039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避免痛苦的否认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807208" y="347472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B1526">
                <a:alpha val="2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935224" y="35387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35224" y="38039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自视过高倾向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47488" y="347472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1526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175504" y="35387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75504" y="38039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过度乐观倾向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287768" y="347472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B1526">
                <a:alpha val="24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415784" y="35387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415784" y="38039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被剥夺超级反应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528048" y="347472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B1526">
                <a:alpha val="24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656064" y="35387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656064" y="38039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社会认同倾向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66928" y="4352544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1526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94944" y="44165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4944" y="4681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对比错误反应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807208" y="4352544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1526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935224" y="44165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935224" y="4681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压力影响倾向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047488" y="4352544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B1526">
                <a:alpha val="24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175504" y="44165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175504" y="4681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易得性错误衡量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287768" y="4352544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1526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415784" y="44165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415784" y="4681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不用就忘倾向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528048" y="4352544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1526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9656064" y="44165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9656064" y="4681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化学物质影响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66928" y="5230368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1526">
                <a:alpha val="1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94944" y="529437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94944" y="55595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衰老错误影响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807208" y="5230368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1526">
                <a:alpha val="1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2935224" y="529437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2935224" y="55595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权威错误影响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047488" y="5230368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1526">
                <a:alpha val="1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5175504" y="529437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5175504" y="55595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废话倾向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287768" y="5230368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1526">
                <a:alpha val="10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7415784" y="529437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7415784" y="55595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重视理由倾向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9528048" y="5230368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12203A"/>
          </a:solidFill>
          <a:ln/>
          <a:effectLst>
            <a:outerShdw sx="100000" sy="100000" kx="0" ky="0" algn="bl" rotWithShape="0" blurRad="76200" dist="25400" dir="5400000">
              <a:srgbClr val="0B1526">
                <a:alpha val="24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9656064" y="529437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9656064" y="55595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Lollapalooza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566928" y="619963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2203A"/>
          </a:solidFill>
          <a:ln/>
        </p:spPr>
      </p:sp>
      <p:sp>
        <p:nvSpPr>
          <p:cNvPr id="80" name="Text 78"/>
          <p:cNvSpPr/>
          <p:nvPr/>
        </p:nvSpPr>
        <p:spPr>
          <a:xfrm>
            <a:off x="896112" y="614476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深色标记 = 在商业与投资中触发频率最高的 8 条，优先掌握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优先掌握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高频八条：最容易让你付出代价的偏误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65960"/>
            <a:ext cx="493776" cy="493776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99616" y="18379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奖励与惩罚超级反应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99616" y="2185416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永远不要低估激励的力量——「告诉我激励，我就告诉你结果」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08776" y="1691640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83096" y="1965960"/>
            <a:ext cx="493776" cy="493776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83096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41464" y="18379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避免不一致性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141464" y="2185416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屁股决定脑袋：观点一旦公开表态，就极难修正（沉没成本）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871216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145536"/>
            <a:ext cx="493776" cy="493776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31455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99616" y="30175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艳羡／嫉妒倾向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99616" y="3364992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驱动世界的隐形引擎，且几乎没人愿意承认（薪酬公开的杀伤力）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08776" y="2871216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83096" y="3145536"/>
            <a:ext cx="493776" cy="493776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83096" y="31455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41464" y="30175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自视过高倾向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41464" y="3364992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 的司机认为自己车技高于平均；高估自己持有的一切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050792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4325112"/>
            <a:ext cx="493776" cy="493776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1248" y="4325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99616" y="41970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被剥夺超级反应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499616" y="4544568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失去 100 元的痛，远大于得到 100 元的乐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08776" y="4050792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83096" y="4325112"/>
            <a:ext cx="493776" cy="493776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83096" y="4325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41464" y="41970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社会认同倾向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141464" y="4544568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不确定时抄别人的作业——泡沫、抢购与从众裁员的根源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5230368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1248" y="5504688"/>
            <a:ext cx="493776" cy="493776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41248" y="5504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499616" y="53766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易得性错误衡量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1499616" y="5724144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容易想起的 ≠ 概率高的（怕空难胜过怕车祸、近因偏差）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08776" y="5230368"/>
            <a:ext cx="5413248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83096" y="5504688"/>
            <a:ext cx="493776" cy="493776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83096" y="5504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41464" y="53766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Lollapalooza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7141464" y="5724144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多种倾向同向叠加，产生非线性的极端后果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25 条 · 全书最重要的概念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Lollapalooza：多因素叠加的临界爆发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664208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多个心理倾向同向叠加时，产生的不是加法效应，而是指数级、非线性的爆发。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21579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案例：Tupperware 家庭聚会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606040"/>
            <a:ext cx="5486400" cy="585216"/>
          </a:xfrm>
          <a:prstGeom prst="roundRect">
            <a:avLst>
              <a:gd name="adj" fmla="val 9375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60604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回馈倾向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24328" y="2606040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先送小礼物、免费招待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300984"/>
            <a:ext cx="5486400" cy="585216"/>
          </a:xfrm>
          <a:prstGeom prst="roundRect">
            <a:avLst>
              <a:gd name="adj" fmla="val 9375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" y="3300984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喜欢倾向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624328" y="3300984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主持人是你的朋友或邻居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995928"/>
            <a:ext cx="5486400" cy="585216"/>
          </a:xfrm>
          <a:prstGeom prst="roundRect">
            <a:avLst>
              <a:gd name="adj" fmla="val 9375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3995928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社会认同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24328" y="3995928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在场的人都已经下单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690872"/>
            <a:ext cx="5486400" cy="585216"/>
          </a:xfrm>
          <a:prstGeom prst="roundRect">
            <a:avLst>
              <a:gd name="adj" fmla="val 9375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469087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对比错误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624328" y="4690872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先展示贵的，再推「划算」的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5385816"/>
            <a:ext cx="5486400" cy="585216"/>
          </a:xfrm>
          <a:prstGeom prst="roundRect">
            <a:avLst>
              <a:gd name="adj" fmla="val 9375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" y="5385816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避免不一致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624328" y="5385816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你已经当众夸奖过产品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608990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单独任何一条都不足以让你买单，五条叠加你几乎无法抵抗。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215798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 Lollapalooza 场景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29400" y="2606040"/>
            <a:ext cx="4992624" cy="713232"/>
          </a:xfrm>
          <a:prstGeom prst="roundRect">
            <a:avLst>
              <a:gd name="adj" fmla="val 7692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03720" y="26791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拍卖会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03720" y="2971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被剥夺反应 + 社会认同 + 对比错误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29400" y="3429000"/>
            <a:ext cx="4992624" cy="713232"/>
          </a:xfrm>
          <a:prstGeom prst="roundRect">
            <a:avLst>
              <a:gd name="adj" fmla="val 7692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03720" y="35021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金融泡沫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03720" y="3794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社会认同 + 嫉妒 + 激励扭曲 + 乐观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29400" y="4251960"/>
            <a:ext cx="4992624" cy="713232"/>
          </a:xfrm>
          <a:prstGeom prst="roundRect">
            <a:avLst>
              <a:gd name="adj" fmla="val 7692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03720" y="43251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传销组织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903720" y="4617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 + 社会认同 + 回馈 + 承诺升级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629400" y="5074920"/>
            <a:ext cx="4992624" cy="1325880"/>
          </a:xfrm>
          <a:prstGeom prst="roundRect">
            <a:avLst>
              <a:gd name="adj" fmla="val 4138"/>
            </a:avLst>
          </a:prstGeom>
          <a:solidFill>
            <a:srgbClr val="27406A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95160" y="52395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正向利用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95160" y="555955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5D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让品牌、规模、网络效应、成本优势、转换成本同时发力——这正是可口可乐式护城河的配方。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投资哲学 · 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四道过滤器：先质，后价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伯克希尔的收购决策必须依次通过这四关，顺序不可颠倒。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2606040" cy="3017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3957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41248" y="31272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能理解吗？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3931920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必须落在能力圈之内。说不清它如何赚钱，就是看不懂。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2968" y="34290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92424" y="2148840"/>
            <a:ext cx="2606040" cy="3017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66744" y="23957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66744" y="31272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有护城河吗？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66744" y="3931920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品牌、规模、网络效应、转换成本、成本优势——且必须持久。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98464" y="34290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148840"/>
            <a:ext cx="2606040" cy="3017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23957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492240" y="31272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管理层可信吗？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92240" y="3931920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德才兼备，诚信优先于才干。与烂人合作没有好价格。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23960" y="34290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43416" y="2148840"/>
            <a:ext cx="2606040" cy="3017520"/>
          </a:xfrm>
          <a:prstGeom prst="roundRect">
            <a:avLst>
              <a:gd name="adj" fmla="val 2105"/>
            </a:avLst>
          </a:prstGeom>
          <a:solidFill>
            <a:srgbClr val="12203A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17736" y="23957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9317736" y="31272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价格合理吗？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317736" y="3931920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安全边际是最后一道防线，而不是第一道。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48640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E4E7EC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32688" y="54864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芒格带来的根本转变　</a:t>
            </a:r>
            <a:pPr indent="0" marL="0">
              <a:buNone/>
            </a:pPr>
            <a:r>
              <a:rPr lang="en-US" sz="1450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用合理的价格买一家伟大的公司，远胜过用便宜的价格买一家平庸的公司。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投资哲学 · 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从「捡烟蒂」到「伟大公司」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0" y="1645920"/>
            <a:ext cx="3977640" cy="841248"/>
          </a:xfrm>
          <a:prstGeom prst="roundRect">
            <a:avLst>
              <a:gd name="adj" fmla="val 6522"/>
            </a:avLst>
          </a:prstGeom>
          <a:solidFill>
            <a:srgbClr val="4A5B78"/>
          </a:solidFill>
          <a:ln/>
          <a:effectLst>
            <a:outerShdw sx="100000" sy="100000" kx="0" ky="0" algn="bl" rotWithShape="0" blurRad="127000" dist="38100" dir="5400000">
              <a:srgbClr val="0B1526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13632" y="17373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格雷厄姆式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913632" y="20665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便宜的平庸公司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18120" y="1645920"/>
            <a:ext cx="3977640" cy="841248"/>
          </a:xfrm>
          <a:prstGeom prst="roundRect">
            <a:avLst>
              <a:gd name="adj" fmla="val 6522"/>
            </a:avLst>
          </a:prstGeom>
          <a:solidFill>
            <a:srgbClr val="12203A"/>
          </a:solidFill>
          <a:ln/>
          <a:effectLst>
            <a:outerShdw sx="100000" sy="100000" kx="0" ky="0" algn="bl" rotWithShape="0" blurRad="127000" dist="38100" dir="5400000">
              <a:srgbClr val="0B1526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74152" y="17373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芒格式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74152" y="20665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合理价格的伟大公司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697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收益来源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2697480"/>
            <a:ext cx="3977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13632" y="2697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均值回归、清算价值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18120" y="2697480"/>
            <a:ext cx="3977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74152" y="2697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内在价值的长期复利增长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355701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0" y="3557016"/>
            <a:ext cx="3977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13632" y="355701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短，估值修复即卖出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18120" y="3557016"/>
            <a:ext cx="3977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74152" y="355701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极长，「最喜欢的持有期是永远」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441655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0" y="4416552"/>
            <a:ext cx="3977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13632" y="441655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净资产、清算价值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18120" y="4416552"/>
            <a:ext cx="3977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74152" y="441655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ROIC、护城河、再投资空间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52760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代表案例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0" y="5276088"/>
            <a:ext cx="3977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913632" y="527608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早期伯克希尔纺织厂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818120" y="5276088"/>
            <a:ext cx="3977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074152" y="527608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喜诗糖果、可口可乐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617220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5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能持续提价而不流失客户的生意，是一台印钞机。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投资哲学 · 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复利：非必要，永远不要打断它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681228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737360"/>
            <a:ext cx="3941064" cy="1133856"/>
          </a:xfrm>
          <a:prstGeom prst="roundRect">
            <a:avLst>
              <a:gd name="adj" fmla="val 4839"/>
            </a:avLst>
          </a:prstGeom>
          <a:solidFill>
            <a:srgbClr val="12203A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55280" y="188366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17.4×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955280" y="235915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年 10% 复利的倍数，是单利的 4 倍以上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80960" y="3035808"/>
            <a:ext cx="3941064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55280" y="318211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不止于钱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55280" y="36576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知识、信誉、人际关系、健康——皆可复利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80960" y="4334256"/>
            <a:ext cx="3941064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955280" y="44805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最大杀手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55280" y="49560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频繁改变主意、中途取出、被情绪打断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66928" y="58064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「大钱不在买卖之中，而在等待之中。」　—— 反对过度分散：好机会稀少，出现时必须下重注，然后长期不动。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可直接使用的模板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投资原则检查清单 · 芒格十条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541324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37944"/>
            <a:ext cx="457200" cy="4572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08176" y="1682496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624328" y="1682496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始于风险评估；坚持安全边际；避免永久性资本损失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08776" y="1682496"/>
            <a:ext cx="541324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37944"/>
            <a:ext cx="457200" cy="4572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50024" y="1682496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66176" y="1682496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「你是对的，不是因为别人同意你」；随大流只得平均值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560320"/>
            <a:ext cx="541324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715768"/>
            <a:ext cx="457200" cy="4572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08176" y="2560320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24328" y="2560320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唯一的方式是广泛阅读，把自己变成终身学习机器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08776" y="2560320"/>
            <a:ext cx="541324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2715768"/>
            <a:ext cx="457200" cy="4572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50024" y="2560320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谦虚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66176" y="2560320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承认无知是智慧的开端；死守能力圈边界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438144"/>
            <a:ext cx="541324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3593592"/>
            <a:ext cx="457200" cy="4572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4672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08176" y="3438144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严格分析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624328" y="3438144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用科学方法与有效清单；区分价值与价格、过程与结果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08776" y="3438144"/>
            <a:ext cx="541324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3593592"/>
            <a:ext cx="457200" cy="4572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4652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50024" y="3438144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66176" y="3438144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资本配置是首要工作；最好的用途永远与次好者比较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4315968"/>
            <a:ext cx="541324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" y="4471416"/>
            <a:ext cx="457200" cy="4572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04672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408176" y="4315968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耐心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2624328" y="4315968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抵制天生的行动偏好；让复利不受干扰地运行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08776" y="4315968"/>
            <a:ext cx="541324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46520" y="4471416"/>
            <a:ext cx="457200" cy="4572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4652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050024" y="4315968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决心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266176" y="4315968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当合适时机出现，果断且坚定地下重注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66928" y="5193792"/>
            <a:ext cx="541324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04672" y="5349240"/>
            <a:ext cx="457200" cy="4572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04672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408176" y="5193792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2624328" y="519379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接受不可消除的复杂性；不断挑战自己最爱的观念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08776" y="5193792"/>
            <a:ext cx="541324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446520" y="5349240"/>
            <a:ext cx="457200" cy="4572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76200" dist="25400" dir="5400000">
              <a:srgbClr val="0B1526">
                <a:alpha val="2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44652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050024" y="5193792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266176" y="519379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保持简单，记住你要做什么；别把小事搞成大事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66928" y="612648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用法：做成一页纸贴在决策桌上。任何一条不满足，就归入「太难」篮子。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 · 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把芒格放进更大的思想坐标系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1055096" cy="676656"/>
          </a:xfrm>
          <a:prstGeom prst="roundRect">
            <a:avLst>
              <a:gd name="adj" fmla="val 8108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1737360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卡尼曼《思考，快与慢》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3048" y="1737360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倾向 ≈ 系统 1 偏差的民间版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82128" y="1737360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芒格重实用清单，卡尼曼重实验证据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523744"/>
            <a:ext cx="11055096" cy="676656"/>
          </a:xfrm>
          <a:prstGeom prst="roundRect">
            <a:avLst>
              <a:gd name="adj" fmla="val 8108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9536" y="2523744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塔勒布《反脆弱》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13048" y="2523744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都强调避免毁灭、重视尾部风险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82128" y="2523744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塔勒布强调不可预测，芒格更信理性分析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310128"/>
            <a:ext cx="11055096" cy="676656"/>
          </a:xfrm>
          <a:prstGeom prst="roundRect">
            <a:avLst>
              <a:gd name="adj" fmla="val 8108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9536" y="331012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达利欧《原则》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813048" y="3310128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都主张把经验固化为可复用原则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82128" y="3310128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达利欧偏系统流程，芒格偏思维模型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096512"/>
            <a:ext cx="11055096" cy="676656"/>
          </a:xfrm>
          <a:prstGeom prst="roundRect">
            <a:avLst>
              <a:gd name="adj" fmla="val 8108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9536" y="4096512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斯多葛哲学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13048" y="4096512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控制可控、接受不可控、拒绝自怜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82128" y="4096512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芒格更商业导向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882896"/>
            <a:ext cx="11055096" cy="676656"/>
          </a:xfrm>
          <a:prstGeom prst="roundRect">
            <a:avLst>
              <a:gd name="adj" fmla="val 8108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9536" y="4882896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中国传统智慧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813048" y="4882896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知止 ≈ 能力圈；未雨绸缪 ≈ 安全边际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82128" y="4882896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三省吾身 ≈ 检查清单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779008"/>
            <a:ext cx="11055096" cy="777240"/>
          </a:xfrm>
          <a:prstGeom prst="roundRect">
            <a:avLst>
              <a:gd name="adj" fmla="val 7059"/>
            </a:avLst>
          </a:prstGeom>
          <a:solidFill>
            <a:srgbClr val="27406A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32688" y="577900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长期成功 =（多元思维模型 × 逆向排查）− 心理偏误 − 能力圈外的行动 + 时间 × 复利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 · 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常见误读与值得注意的批评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645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三个常见误读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413248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226771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「这是一本投资技巧书」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9536" y="26700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全书 80% 在讲认知与决策，投资只是应用场景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3401568"/>
            <a:ext cx="5413248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9536" y="35661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「背下 25 条就能免疫」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59536" y="39684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知道偏差存在不能自动免疫，必须配清单与制度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4700016"/>
            <a:ext cx="5413248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9536" y="48646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「100 个模型有现成清单」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59536" y="52669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芒格从未给出完整清单，网传版本多为后人整理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08776" y="1645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四项值得正视的批评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08776" y="2103120"/>
            <a:ext cx="5413248" cy="822960"/>
          </a:xfrm>
          <a:prstGeom prst="roundRect">
            <a:avLst>
              <a:gd name="adj" fmla="val 6667"/>
            </a:avLst>
          </a:prstGeom>
          <a:solidFill>
            <a:srgbClr val="12203A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83096" y="2221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幸存者偏差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83096" y="25237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方法论有效，但样本量为 1，难以证明可复制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08776" y="3072384"/>
            <a:ext cx="5413248" cy="822960"/>
          </a:xfrm>
          <a:prstGeom prst="roundRect">
            <a:avLst>
              <a:gd name="adj" fmla="val 6667"/>
            </a:avLst>
          </a:prstGeom>
          <a:solidFill>
            <a:srgbClr val="12203A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83096" y="31912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心理学非专业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83096" y="34930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倾向缺乏严格实验支撑，部分概念重叠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08776" y="4041648"/>
            <a:ext cx="5413248" cy="822960"/>
          </a:xfrm>
          <a:prstGeom prst="roundRect">
            <a:avLst>
              <a:gd name="adj" fmla="val 6667"/>
            </a:avLst>
          </a:prstGeom>
          <a:solidFill>
            <a:srgbClr val="12203A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83096" y="4160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时代红利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83096" y="44622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黄金期恰逢美国战后长牛与全球化红利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08776" y="5010912"/>
            <a:ext cx="5413248" cy="822960"/>
          </a:xfrm>
          <a:prstGeom prst="roundRect">
            <a:avLst>
              <a:gd name="adj" fmla="val 6667"/>
            </a:avLst>
          </a:prstGeom>
          <a:solidFill>
            <a:srgbClr val="12203A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83096" y="5129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8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能力圈的循环性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83096" y="54315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「看不懂就别投」易在实践中沦为事后归因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612648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5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成熟的读法：把它当作思维操作系统的启发，而非可照抄的操作手册。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 · 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落地实践：可执行的行动清单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29584" cy="3950208"/>
          </a:xfrm>
          <a:prstGeom prst="roundRect">
            <a:avLst>
              <a:gd name="adj" fmla="val 1554"/>
            </a:avLst>
          </a:prstGeom>
          <a:solidFill>
            <a:srgbClr val="12203A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193852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9536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10–30 分钟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9536" y="2788920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734056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3CE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 30 分钟以上，优先传记与跨学科基础读物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59536" y="3703320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648456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3CE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记录一条今天观察到的「心理倾向」实例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9536" y="4617720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4617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562856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3CE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睡前一问：我今天比昨天在哪一点更聪明了？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25112" y="1691640"/>
            <a:ext cx="3529584" cy="3950208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193852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1772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一次复盘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2788920"/>
            <a:ext cx="310896" cy="310896"/>
          </a:xfrm>
          <a:prstGeom prst="ellipse">
            <a:avLst/>
          </a:prstGeom>
          <a:solidFill>
            <a:srgbClr val="12203A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38344" y="2734056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 1 个本周决策，用 3 个学科模型各解释一遍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17720" y="3703320"/>
            <a:ext cx="310896" cy="310896"/>
          </a:xfrm>
          <a:prstGeom prst="ellipse">
            <a:avLst/>
          </a:prstGeom>
          <a:solidFill>
            <a:srgbClr val="12203A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38344" y="3648456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做一次逆向演练：要搞砸最可能是哪 3 条路径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17720" y="4617720"/>
            <a:ext cx="310896" cy="310896"/>
          </a:xfrm>
          <a:prstGeom prst="ellipse">
            <a:avLst/>
          </a:prstGeom>
          <a:solidFill>
            <a:srgbClr val="12203A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617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38344" y="4562856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主动寻找反驳自己核心观点的最强论证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83296" y="1691640"/>
            <a:ext cx="3529584" cy="3950208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75904" y="193852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每次重大决策前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375904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六步走查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75904" y="2788920"/>
            <a:ext cx="310896" cy="310896"/>
          </a:xfrm>
          <a:prstGeom prst="ellipse">
            <a:avLst/>
          </a:prstGeom>
          <a:solidFill>
            <a:srgbClr val="12203A"/>
          </a:solidFill>
          <a:ln/>
        </p:spPr>
      </p:sp>
      <p:sp>
        <p:nvSpPr>
          <p:cNvPr id="32" name="Text 30"/>
          <p:cNvSpPr/>
          <p:nvPr/>
        </p:nvSpPr>
        <p:spPr>
          <a:xfrm>
            <a:off x="8375904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96528" y="2734056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能力圈自检：我真的懂，还是只是希望我懂？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375904" y="3703320"/>
            <a:ext cx="310896" cy="310896"/>
          </a:xfrm>
          <a:prstGeom prst="ellipse">
            <a:avLst/>
          </a:prstGeom>
          <a:solidFill>
            <a:srgbClr val="12203A"/>
          </a:solidFill>
          <a:ln/>
        </p:spPr>
      </p:sp>
      <p:sp>
        <p:nvSpPr>
          <p:cNvPr id="35" name="Text 33"/>
          <p:cNvSpPr/>
          <p:nvPr/>
        </p:nvSpPr>
        <p:spPr>
          <a:xfrm>
            <a:off x="8375904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796528" y="3648456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逆向清单 + 25 倾向扫描，逐条排除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375904" y="4617720"/>
            <a:ext cx="310896" cy="310896"/>
          </a:xfrm>
          <a:prstGeom prst="ellipse">
            <a:avLst/>
          </a:prstGeom>
          <a:solidFill>
            <a:srgbClr val="12203A"/>
          </a:solidFill>
          <a:ln/>
        </p:spPr>
      </p:sp>
      <p:sp>
        <p:nvSpPr>
          <p:cNvPr id="38" name="Text 36"/>
          <p:cNvSpPr/>
          <p:nvPr/>
        </p:nvSpPr>
        <p:spPr>
          <a:xfrm>
            <a:off x="8375904" y="4617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796528" y="4562856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563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机会成本对照 + 安全边际：最坏情况会否出局？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5806440"/>
            <a:ext cx="11055096" cy="621792"/>
          </a:xfrm>
          <a:prstGeom prst="roundRect">
            <a:avLst>
              <a:gd name="adj" fmla="val 8824"/>
            </a:avLst>
          </a:prstGeom>
          <a:solidFill>
            <a:srgbClr val="E4E7EC"/>
          </a:solidFill>
          <a:ln/>
          <a:effectLst>
            <a:outerShdw sx="100000" sy="100000" kx="0" ky="0" algn="bl" rotWithShape="0" blurRad="127000" dist="38100" dir="5400000">
              <a:srgbClr val="0B1526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32688" y="580644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长期：维护一份思维模型笔记（定义／案例／反例／误用）＋ 一份决策日志（记录当时理由与预期，事后复盘）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05840"/>
            <a:ext cx="4023360" cy="4023360"/>
          </a:xfrm>
          <a:prstGeom prst="ellipse">
            <a:avLst/>
          </a:prstGeom>
          <a:ln w="12700">
            <a:solidFill>
              <a:srgbClr val="2740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480560"/>
            <a:ext cx="3474720" cy="3474720"/>
          </a:xfrm>
          <a:prstGeom prst="ellipse">
            <a:avLst/>
          </a:prstGeom>
          <a:ln w="12700">
            <a:solidFill>
              <a:srgbClr val="2740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芒格一生的方法论，可以压缩成三句话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2194560"/>
            <a:ext cx="7863840" cy="877824"/>
          </a:xfrm>
          <a:prstGeom prst="roundRect">
            <a:avLst>
              <a:gd name="adj" fmla="val 6250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194560"/>
            <a:ext cx="685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37360" y="2194560"/>
            <a:ext cx="6400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别做傻事，比做聪明事更重要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66928" y="3218688"/>
            <a:ext cx="7863840" cy="877824"/>
          </a:xfrm>
          <a:prstGeom prst="roundRect">
            <a:avLst>
              <a:gd name="adj" fmla="val 6250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3218688"/>
            <a:ext cx="685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37360" y="3218688"/>
            <a:ext cx="6400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学多个学科的大道理，把它们编成一张网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66928" y="4242816"/>
            <a:ext cx="7863840" cy="877824"/>
          </a:xfrm>
          <a:prstGeom prst="roundRect">
            <a:avLst>
              <a:gd name="adj" fmla="val 6250"/>
            </a:avLst>
          </a:prstGeom>
          <a:solidFill>
            <a:srgbClr val="1B2E4F"/>
          </a:solidFill>
          <a:ln/>
          <a:effectLst>
            <a:outerShdw sx="100000" sy="100000" kx="0" ky="0" algn="bl" rotWithShape="0" blurRad="127000" dist="38100" dir="5400000">
              <a:srgbClr val="0B1526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4242816"/>
            <a:ext cx="685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7360" y="4242816"/>
            <a:ext cx="6400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找到少数绝佳机会，下重注，长期不动，让复利工作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66928" y="5440680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C9A227"/>
          </a:solidFill>
          <a:ln/>
          <a:effectLst>
            <a:outerShdw sx="100000" sy="100000" kx="0" ky="0" algn="bl" rotWithShape="0" blurRad="152400" dist="50800" dir="5400000">
              <a:srgbClr val="0B1526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" y="54406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「要得到你想要的某样东西，最可靠的办法是让你自己配得上它。」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穷查理宝典 · 精华总结与拓展</dc:title>
  <dc:subject>PptxGenJS Presentation</dc:subject>
  <dc:creator>读书笔记</dc:creator>
  <cp:lastModifiedBy>读书笔记</cp:lastModifiedBy>
  <cp:revision>1</cp:revision>
  <dcterms:created xsi:type="dcterms:W3CDTF">2026-08-13T07:51:19Z</dcterms:created>
  <dcterms:modified xsi:type="dcterms:W3CDTF">2026-08-13T07:51:19Z</dcterms:modified>
</cp:coreProperties>
</file>